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italic r:id="rId17"/>
    </p:embeddedFont>
    <p:embeddedFont>
      <p:font typeface="Open Sans Bold" panose="020B0806030504020204" charset="0"/>
      <p:regular r:id="rId18"/>
    </p:embeddedFont>
    <p:embeddedFont>
      <p:font typeface="Unbounded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32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17.png"/><Relationship Id="rId16" Type="http://schemas.openxmlformats.org/officeDocument/2006/relationships/image" Target="../media/image1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7.png"/><Relationship Id="rId10" Type="http://schemas.openxmlformats.org/officeDocument/2006/relationships/image" Target="../media/image28.svg"/><Relationship Id="rId11" Type="http://schemas.openxmlformats.org/officeDocument/2006/relationships/image" Target="../media/image29.png"/><Relationship Id="rId12" Type="http://schemas.openxmlformats.org/officeDocument/2006/relationships/image" Target="../media/image3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eg"/><Relationship Id="rId4" Type="http://schemas.openxmlformats.org/officeDocument/2006/relationships/image" Target="../media/image32.jpeg"/><Relationship Id="rId5" Type="http://schemas.openxmlformats.org/officeDocument/2006/relationships/image" Target="../media/image33.jpeg"/><Relationship Id="rId6" Type="http://schemas.openxmlformats.org/officeDocument/2006/relationships/image" Target="../media/image3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37.png"/><Relationship Id="rId6" Type="http://schemas.openxmlformats.org/officeDocument/2006/relationships/image" Target="../media/image38.svg"/><Relationship Id="rId7" Type="http://schemas.openxmlformats.org/officeDocument/2006/relationships/image" Target="../media/image39.png"/><Relationship Id="rId8" Type="http://schemas.openxmlformats.org/officeDocument/2006/relationships/image" Target="../media/image40.svg"/><Relationship Id="rId9" Type="http://schemas.openxmlformats.org/officeDocument/2006/relationships/image" Target="../media/image41.png"/><Relationship Id="rId10" Type="http://schemas.openxmlformats.org/officeDocument/2006/relationships/image" Target="../media/image42.svg"/><Relationship Id="rId11" Type="http://schemas.openxmlformats.org/officeDocument/2006/relationships/image" Target="../media/image43.png"/><Relationship Id="rId12" Type="http://schemas.openxmlformats.org/officeDocument/2006/relationships/image" Target="../media/image44.svg"/><Relationship Id="rId13" Type="http://schemas.openxmlformats.org/officeDocument/2006/relationships/image" Target="../media/image45.png"/><Relationship Id="rId1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00113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AI-Powered Food Identification &amp; Nutrition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4167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a food photo to intelligent nutrition insights.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27958"/>
            <a:ext cx="919609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010174" y="3470449"/>
            <a:ext cx="120669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NATIVE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15570" y="3427958"/>
            <a:ext cx="621134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00625" y="3470449"/>
            <a:ext cx="90822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607546" y="3427958"/>
            <a:ext cx="610344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692601" y="3470449"/>
            <a:ext cx="89743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DJANGO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88732" y="3427958"/>
            <a:ext cx="273472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73788" y="3470449"/>
            <a:ext cx="5605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33046" y="3427958"/>
            <a:ext cx="1173733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18102" y="3470449"/>
            <a:ext cx="14608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VISION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8671"/>
            <a:ext cx="4722763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 Know What We Eat. But Do We Know What's Inside?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96119" y="1166738"/>
            <a:ext cx="4722763" cy="542330"/>
          </a:xfrm>
          <a:prstGeom prst="roundRect">
            <a:avLst>
              <a:gd name="adj" fmla="val 77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600521" y="1271141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Time-Consuming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0521" y="1468859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calorie tracking takes minutes per meal — most people give up.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6119" y="1779091"/>
            <a:ext cx="4722763" cy="542330"/>
          </a:xfrm>
          <a:prstGeom prst="roundRect">
            <a:avLst>
              <a:gd name="adj" fmla="val 77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0521" y="1883494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Portion Guesswork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521" y="2081213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Estimating grams by eye is notoriously unreliable.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96119" y="2391445"/>
            <a:ext cx="4722763" cy="542330"/>
          </a:xfrm>
          <a:prstGeom prst="roundRect">
            <a:avLst>
              <a:gd name="adj" fmla="val 77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0521" y="2495848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Hidden Ingredients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0521" y="2693566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Oil, butter, sugar, and sauces go undetected in homemade and restaurant meals.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96119" y="3003798"/>
            <a:ext cx="4722763" cy="542330"/>
          </a:xfrm>
          <a:prstGeom prst="roundRect">
            <a:avLst>
              <a:gd name="adj" fmla="val 77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0521" y="3108201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Context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0521" y="3305919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rarely know the nutritional value of regional or mixed dishes.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96119" y="3624932"/>
            <a:ext cx="4722763" cy="1079897"/>
          </a:xfrm>
          <a:prstGeom prst="roundRect">
            <a:avLst>
              <a:gd name="adj" fmla="val 387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00881" y="3629695"/>
            <a:ext cx="4713238" cy="532805"/>
          </a:xfrm>
          <a:custGeom>
            <a:avLst/>
            <a:gdLst/>
            <a:ahLst/>
            <a:cxnLst/>
            <a:rect l="l" t="t" r="r" b="b"/>
            <a:pathLst>
              <a:path w="4713238" h="532805">
                <a:moveTo>
                  <a:pt x="34888" y="0"/>
                </a:moveTo>
                <a:lnTo>
                  <a:pt x="4678350" y="0"/>
                </a:lnTo>
                <a:arcTo wR="34888" hR="34888" stAng="16200000" swAng="5400000"/>
                <a:lnTo>
                  <a:pt x="4713238" y="532805"/>
                </a:lnTo>
                <a:lnTo>
                  <a:pt x="0" y="532805"/>
                </a:lnTo>
                <a:lnTo>
                  <a:pt x="0" y="34888"/>
                </a:lnTo>
                <a:arcTo wR="34888" hR="34888" stAng="10800000" swAng="5400000"/>
                <a:close/>
              </a:path>
            </a:pathLst>
          </a:custGeom>
          <a:solidFill>
            <a:srgbClr val="D6F5E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00521" y="3729335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Traditional Method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0521" y="3927053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 → Estimate → Enter → Calculate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00881" y="4162499"/>
            <a:ext cx="4713238" cy="537567"/>
          </a:xfrm>
          <a:custGeom>
            <a:avLst/>
            <a:gdLst/>
            <a:ahLst/>
            <a:cxnLst/>
            <a:rect l="l" t="t" r="r" b="b"/>
            <a:pathLst>
              <a:path w="4713238" h="537567">
                <a:moveTo>
                  <a:pt x="0" y="0"/>
                </a:moveTo>
                <a:lnTo>
                  <a:pt x="4713238" y="0"/>
                </a:lnTo>
                <a:lnTo>
                  <a:pt x="4713238" y="502679"/>
                </a:lnTo>
                <a:arcTo wR="34888" hR="34888" stAng="0" swAng="5400000"/>
                <a:lnTo>
                  <a:pt x="34888" y="537567"/>
                </a:lnTo>
                <a:arcTo wR="34888" hR="34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00881" y="4162499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0521" y="4262140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Our Approach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00521" y="4459858"/>
            <a:ext cx="4513957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📸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Scan → 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🤖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AI → 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Nutrition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 AI That Understands Your Plate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5209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photo triggers an intelligent, multi-stage pipeline — delivering complete nutritional intelligence in seconds.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431206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55871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Nutrition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55871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Portion Estimate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444080"/>
            <a:ext cx="1190146" cy="68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Component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444080"/>
            <a:ext cx="1190146" cy="68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Identification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55871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Upload Photo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53702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builds on the last — from raw image to actionable, personalized nutrition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53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 Than Just Calorie Counting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58838"/>
            <a:ext cx="256952" cy="256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1269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Food Identification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731764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Recognizes thousands of dishes, including regional Indian food.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866" y="1058838"/>
            <a:ext cx="256952" cy="256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1866" y="1461269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Component Detection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61866" y="1731764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Breaks mixed dishes into individual ingredients.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7613" y="1058838"/>
            <a:ext cx="256952" cy="256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7613" y="1461269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Portion Estimation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027613" y="1731764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estimates gram weight from image context — a core innovation.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356470"/>
            <a:ext cx="256952" cy="256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2758901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Calories &amp; Macros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96119" y="3029396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breakdown: protein, carbs, fat, and fiber per meal.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1866" y="2356470"/>
            <a:ext cx="256952" cy="256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61866" y="2758901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Allergen Detection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261866" y="3029396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Flags common allergens — nuts, dairy, gluten, and more.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27613" y="2356470"/>
            <a:ext cx="256952" cy="2569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27613" y="2758901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Confidence Scoring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6027613" y="3029396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estimate includes a confidence score for transparency.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6119" y="3654103"/>
            <a:ext cx="256952" cy="25695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4056534"/>
            <a:ext cx="262026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Healthier Alternatives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496119" y="4327029"/>
            <a:ext cx="262026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suggests smarter swaps tailored to your meal.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9090"/>
            <a:ext cx="1584722" cy="220117"/>
          </a:xfrm>
          <a:prstGeom prst="roundRect">
            <a:avLst>
              <a:gd name="adj" fmla="val 21640"/>
            </a:avLst>
          </a:prstGeom>
          <a:solidFill>
            <a:srgbClr val="D6F5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621581"/>
            <a:ext cx="1871811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FLAGSHIP INNOVATION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5591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Food Twin — Your Meal, Digitally Reconstructed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954485"/>
            <a:ext cx="4107135" cy="2609850"/>
          </a:xfrm>
          <a:prstGeom prst="roundRect">
            <a:avLst>
              <a:gd name="adj" fmla="val 3911"/>
            </a:avLst>
          </a:prstGeom>
          <a:solidFill>
            <a:srgbClr val="26A6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781" y="209624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Chicken Biryani — Deconstructed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459459"/>
            <a:ext cx="3823618" cy="1332309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 — 280g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Chicken — 120g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Gravy — 80g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Fried Onion — 20g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Raita — 70g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5781" y="3986659"/>
            <a:ext cx="3823618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781" y="4200599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~680 kcal · 38g Protein · 72g Carbs · 24g Fat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09624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Nutrition Control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459459"/>
            <a:ext cx="3902943" cy="100637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Remove gravy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Nutrition recalculates instantly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Ate half the rice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Consumed calories update live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Swap rice for roti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AI compares both meals side by 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49701" y="3625304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D6F5EE"/>
          </a:solidFill>
          <a:ln/>
        </p:spPr>
        <p:txBody>
          <a:bodyPr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84512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0398" y="3788271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Food Twin turns a static photo into an interactive, editable nutritional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the System Works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4405610" cy="4405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429" y="2708151"/>
            <a:ext cx="35731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End-to-End Intelligence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79429" y="2854300"/>
            <a:ext cx="357314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pipeline is designed for speed and accuracy. The mobile app communicates with a Django backend, which orchestrates AI models for recognition and portion estimation, then queries a structured nutrition database to generate personalized, actionable results — all in real time.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5189488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76486" y="5269855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76486" y="5401791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in seconds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4589711" y="5189488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70078" y="5269855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Scalable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70078" y="5401791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Cloud-ready architecture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Behind the System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2640" y="1277020"/>
            <a:ext cx="425276" cy="425276"/>
          </a:xfrm>
          <a:prstGeom prst="ellipse">
            <a:avLst/>
          </a:prstGeom>
          <a:solidFill>
            <a:srgbClr val="26A688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39392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4405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056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Native — cross-platform iOS &amp; Android with a smooth, native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407122" y="1277020"/>
            <a:ext cx="425276" cy="425276"/>
          </a:xfrm>
          <a:prstGeom prst="ellipse">
            <a:avLst/>
          </a:prstGeom>
          <a:solidFill>
            <a:srgbClr val="26A688"/>
          </a:solidFill>
          <a:ln/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4101" y="139392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184405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15056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+ Django REST Framework — robust, scalable API layer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171605" y="1277020"/>
            <a:ext cx="425276" cy="425276"/>
          </a:xfrm>
          <a:prstGeom prst="ellipse">
            <a:avLst/>
          </a:prstGeom>
          <a:solidFill>
            <a:srgbClr val="26A688"/>
          </a:solidFill>
          <a:ln/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8584" y="139392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184405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Vision &amp; Deep Learning — food recognition and portion estimation models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42640" y="3265810"/>
            <a:ext cx="425276" cy="425276"/>
          </a:xfrm>
          <a:prstGeom prst="ellipse">
            <a:avLst/>
          </a:prstGeom>
          <a:solidFill>
            <a:srgbClr val="26A688"/>
          </a:solidFill>
          <a:ln/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83284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 + Nutrition Database — structured, queryable food data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4789363" y="3265810"/>
            <a:ext cx="425276" cy="425276"/>
          </a:xfrm>
          <a:prstGeom prst="ellipse">
            <a:avLst/>
          </a:prstGeom>
          <a:solidFill>
            <a:srgbClr val="26A688"/>
          </a:solidFill>
          <a:ln/>
        </p:spPr>
        <p:txBody>
          <a:bodyPr/>
          <a:p/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83284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Infrastructure — scalable, high-availability hosting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033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Scan to Smart Decision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72455"/>
            <a:ext cx="1120825" cy="1400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13943"/>
            <a:ext cx="193253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Home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878634"/>
            <a:ext cx="193253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access to scan, history, and daily goals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146" y="1072455"/>
            <a:ext cx="1120899" cy="14010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146" y="2614017"/>
            <a:ext cx="19326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Scan Food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569146" y="2878708"/>
            <a:ext cx="193260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 camera or upload from gallery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247" y="1072455"/>
            <a:ext cx="1120825" cy="1400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2247" y="2613943"/>
            <a:ext cx="193253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 AI Detection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642247" y="2878634"/>
            <a:ext cx="193253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Dish identified, components broken down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274" y="1072455"/>
            <a:ext cx="1120899" cy="14010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15274" y="2614017"/>
            <a:ext cx="19326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4. Nutrition Results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715274" y="2878708"/>
            <a:ext cx="193260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macro breakdown + AI health insights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96119" y="3499545"/>
            <a:ext cx="476778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Sample Result: Chicken Biryani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96119" y="3809256"/>
            <a:ext cx="4767783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680 kcal · 38g Protein · 72g Carbs · 24g Fat</a:t>
            </a:r>
            <a:endParaRPr lang="en-US" sz="950" dirty="0"/>
          </a:p>
          <a:p>
            <a:pPr marL="0" indent="0" algn="l">
              <a:lnSpc>
                <a:spcPct val="126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 sodium   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🟠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Moderate fat   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🟢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Good protein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Suggested: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Reduce gravy + add a side salad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485805" y="3387105"/>
            <a:ext cx="3257699" cy="1303362"/>
          </a:xfrm>
          <a:prstGeom prst="roundRect">
            <a:avLst>
              <a:gd name="adj" fmla="val 6975"/>
            </a:avLst>
          </a:prstGeom>
          <a:solidFill>
            <a:srgbClr val="26A688"/>
          </a:solidFill>
          <a:ln/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5612011" y="3499545"/>
            <a:ext cx="30052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612011" y="3809256"/>
            <a:ext cx="3005286" cy="651421"/>
          </a:xfrm>
          <a:prstGeom prst="rect">
            <a:avLst/>
          </a:prstGeom>
          <a:noFill/>
          <a:ln/>
        </p:spPr>
        <p:txBody>
          <a:bodyPr wrap="square" lIns="0" tIns="50505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&amp; convenient — seconds, not minutes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Portion-aware, not just dish-level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Personalized, actionable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44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Making Every Meal Understandable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29246"/>
            <a:ext cx="279053" cy="279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845" y="1277169"/>
            <a:ext cx="35392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Regional Food Recognition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6845" y="1577578"/>
            <a:ext cx="3539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coverage to diverse Indian regional cuisines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99" y="1229246"/>
            <a:ext cx="279053" cy="2790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08525" y="1277169"/>
            <a:ext cx="35393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Personalized Meal Planning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08525" y="1577578"/>
            <a:ext cx="35393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AI-generated weekly plans based on goals and history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073771"/>
            <a:ext cx="279053" cy="2790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6845" y="2121694"/>
            <a:ext cx="35392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Wearable Integration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6845" y="2422103"/>
            <a:ext cx="3539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Sync with fitness trackers for holistic health data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7799" y="2073771"/>
            <a:ext cx="279053" cy="2790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08525" y="2121694"/>
            <a:ext cx="35393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Voice-Based Logging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08525" y="2422103"/>
            <a:ext cx="35393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Hands-free food entry via natural language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2918296"/>
            <a:ext cx="279053" cy="2790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6845" y="2966219"/>
            <a:ext cx="35392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Meal History &amp; Trends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6845" y="3266629"/>
            <a:ext cx="3539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nutrition patterns and insights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7799" y="2918296"/>
            <a:ext cx="279053" cy="27905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08525" y="2966219"/>
            <a:ext cx="35393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Restaurant Food Analysis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08525" y="3266629"/>
            <a:ext cx="35393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and analyze dishes from popular restaurant menus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705445" y="4070077"/>
            <a:ext cx="794243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Scan. Understand. Improve.</a:t>
            </a:r>
            <a:endParaRPr lang="en-US" sz="2150" dirty="0"/>
          </a:p>
        </p:txBody>
      </p:sp>
      <p:sp>
        <p:nvSpPr>
          <p:cNvPr id="22" name="Shape 14"/>
          <p:cNvSpPr/>
          <p:nvPr/>
        </p:nvSpPr>
        <p:spPr>
          <a:xfrm>
            <a:off x="496119" y="3864025"/>
            <a:ext cx="19050" cy="760958"/>
          </a:xfrm>
          <a:prstGeom prst="roundRect">
            <a:avLst>
              <a:gd name="adj" fmla="val 50000"/>
            </a:avLst>
          </a:prstGeom>
          <a:solidFill>
            <a:srgbClr val="26A688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645</Words>
  <Application>Microsoft Office PowerPoint</Application>
  <PresentationFormat>On-screen Show (16:9)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Open Sans Bold</vt:lpstr>
      <vt:lpstr>Unbounded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Sandeep Kumar Samal</cp:lastModifiedBy>
  <cp:revision>3</cp:revision>
  <dcterms:created xsi:type="dcterms:W3CDTF">2026-08-18T06:39:24Z</dcterms:created>
  <dcterms:modified xsi:type="dcterms:W3CDTF">2026-08-18T07:10:56Z</dcterms:modified>
</cp:coreProperties>
</file>